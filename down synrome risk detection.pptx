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2" r:id="rId9"/>
    <p:sldId id="263" r:id="rId10"/>
    <p:sldId id="264" r:id="rId11"/>
    <p:sldId id="266" r:id="rId12"/>
    <p:sldId id="267" r:id="rId13"/>
    <p:sldId id="265" r:id="rId14"/>
    <p:sldId id="271" r:id="rId15"/>
    <p:sldId id="280" r:id="rId16"/>
    <p:sldId id="279" r:id="rId17"/>
    <p:sldId id="273" r:id="rId18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11" autoAdjust="0"/>
    <p:restoredTop sz="94660"/>
  </p:normalViewPr>
  <p:slideViewPr>
    <p:cSldViewPr>
      <p:cViewPr varScale="1">
        <p:scale>
          <a:sx n="151" d="100"/>
          <a:sy n="151" d="100"/>
        </p:scale>
        <p:origin x="1675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siya shafeek" userId="6b64a6b7c53f07a7" providerId="LiveId" clId="{39E6A882-10D7-4DC7-8C2E-F0F11ABFF9CA}"/>
    <pc:docChg chg="undo custSel addSld delSld modSld sldOrd">
      <pc:chgData name="aasiya shafeek" userId="6b64a6b7c53f07a7" providerId="LiveId" clId="{39E6A882-10D7-4DC7-8C2E-F0F11ABFF9CA}" dt="2026-05-30T06:09:40.952" v="1246" actId="47"/>
      <pc:docMkLst>
        <pc:docMk/>
      </pc:docMkLst>
      <pc:sldChg chg="del">
        <pc:chgData name="aasiya shafeek" userId="6b64a6b7c53f07a7" providerId="LiveId" clId="{39E6A882-10D7-4DC7-8C2E-F0F11ABFF9CA}" dt="2026-05-30T06:09:37.719" v="1245" actId="47"/>
        <pc:sldMkLst>
          <pc:docMk/>
          <pc:sldMk cId="0" sldId="268"/>
        </pc:sldMkLst>
      </pc:sldChg>
      <pc:sldChg chg="del">
        <pc:chgData name="aasiya shafeek" userId="6b64a6b7c53f07a7" providerId="LiveId" clId="{39E6A882-10D7-4DC7-8C2E-F0F11ABFF9CA}" dt="2026-05-30T06:09:40.952" v="1246" actId="47"/>
        <pc:sldMkLst>
          <pc:docMk/>
          <pc:sldMk cId="0" sldId="269"/>
        </pc:sldMkLst>
      </pc:sldChg>
      <pc:sldChg chg="del">
        <pc:chgData name="aasiya shafeek" userId="6b64a6b7c53f07a7" providerId="LiveId" clId="{39E6A882-10D7-4DC7-8C2E-F0F11ABFF9CA}" dt="2026-05-30T06:09:34.632" v="1244" actId="47"/>
        <pc:sldMkLst>
          <pc:docMk/>
          <pc:sldMk cId="0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07070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7070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4195" y="32852"/>
            <a:ext cx="189420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9097" y="1122526"/>
            <a:ext cx="3811904" cy="1128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07070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879" y="518563"/>
            <a:ext cx="3387725" cy="453394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517525" marR="5080" indent="-505459" algn="ctr">
              <a:lnSpc>
                <a:spcPct val="106700"/>
              </a:lnSpc>
              <a:spcBef>
                <a:spcPts val="20"/>
              </a:spcBef>
            </a:pPr>
            <a:r>
              <a:rPr lang="en-US" spc="175" dirty="0">
                <a:solidFill>
                  <a:srgbClr val="BF003F"/>
                </a:solidFill>
              </a:rPr>
              <a:t>Prenatal Down Syndrome </a:t>
            </a:r>
            <a:br>
              <a:rPr lang="en-US" spc="175" dirty="0">
                <a:solidFill>
                  <a:srgbClr val="BF003F"/>
                </a:solidFill>
              </a:rPr>
            </a:br>
            <a:r>
              <a:rPr lang="en-US" spc="175" dirty="0">
                <a:solidFill>
                  <a:srgbClr val="BF003F"/>
                </a:solidFill>
              </a:rPr>
              <a:t>Risk Detection</a:t>
            </a:r>
            <a:endParaRPr spc="105" dirty="0">
              <a:solidFill>
                <a:srgbClr val="BF003F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0006" y="1298308"/>
            <a:ext cx="647953" cy="64795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86103" y="2151197"/>
            <a:ext cx="2235835" cy="7226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lang="en-US" sz="900" b="1" spc="90" dirty="0">
                <a:solidFill>
                  <a:srgbClr val="0000FF"/>
                </a:solidFill>
                <a:latin typeface="Calibri"/>
                <a:cs typeface="Calibri"/>
              </a:rPr>
              <a:t>Aasiya M</a:t>
            </a:r>
            <a:endParaRPr sz="9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900" spc="10" dirty="0">
                <a:solidFill>
                  <a:srgbClr val="070707"/>
                </a:solidFill>
                <a:latin typeface="Calibri"/>
                <a:cs typeface="Calibri"/>
              </a:rPr>
              <a:t>Under</a:t>
            </a:r>
            <a:r>
              <a:rPr sz="900" spc="229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900" spc="10" dirty="0">
                <a:solidFill>
                  <a:srgbClr val="070707"/>
                </a:solidFill>
                <a:latin typeface="Calibri"/>
                <a:cs typeface="Calibri"/>
              </a:rPr>
              <a:t>the</a:t>
            </a:r>
            <a:r>
              <a:rPr sz="900" spc="235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900" spc="10" dirty="0">
                <a:solidFill>
                  <a:srgbClr val="070707"/>
                </a:solidFill>
                <a:latin typeface="Calibri"/>
                <a:cs typeface="Calibri"/>
              </a:rPr>
              <a:t>Supervision</a:t>
            </a:r>
            <a:r>
              <a:rPr sz="900" spc="235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070707"/>
                </a:solidFill>
                <a:latin typeface="Calibri"/>
                <a:cs typeface="Calibri"/>
              </a:rPr>
              <a:t>of</a:t>
            </a:r>
            <a:endParaRPr sz="9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lang="en-IN" sz="900" b="1" spc="95" dirty="0">
                <a:solidFill>
                  <a:srgbClr val="0000FF"/>
                </a:solidFill>
                <a:latin typeface="Calibri"/>
                <a:cs typeface="Calibri"/>
              </a:rPr>
              <a:t>Prof. Natheera Beevi M</a:t>
            </a: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900" b="1" spc="280" dirty="0">
                <a:solidFill>
                  <a:srgbClr val="070707"/>
                </a:solidFill>
                <a:latin typeface="Calibri"/>
                <a:cs typeface="Calibri"/>
              </a:rPr>
              <a:t>TKM</a:t>
            </a:r>
            <a:r>
              <a:rPr sz="900" b="1" spc="180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900" b="1" spc="85" dirty="0">
                <a:solidFill>
                  <a:srgbClr val="070707"/>
                </a:solidFill>
                <a:latin typeface="Calibri"/>
                <a:cs typeface="Calibri"/>
              </a:rPr>
              <a:t>College</a:t>
            </a:r>
            <a:r>
              <a:rPr sz="900" b="1" spc="185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70707"/>
                </a:solidFill>
                <a:latin typeface="Calibri"/>
                <a:cs typeface="Calibri"/>
              </a:rPr>
              <a:t>of</a:t>
            </a:r>
            <a:r>
              <a:rPr sz="900" b="1" spc="185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900" b="1" spc="90" dirty="0">
                <a:solidFill>
                  <a:srgbClr val="070707"/>
                </a:solidFill>
                <a:latin typeface="Calibri"/>
                <a:cs typeface="Calibri"/>
              </a:rPr>
              <a:t>Engineering,</a:t>
            </a:r>
            <a:r>
              <a:rPr sz="900" b="1" spc="185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900" b="1" spc="110" dirty="0">
                <a:solidFill>
                  <a:srgbClr val="070707"/>
                </a:solidFill>
                <a:latin typeface="Calibri"/>
                <a:cs typeface="Calibri"/>
              </a:rPr>
              <a:t>Kollam</a:t>
            </a:r>
            <a:endParaRPr sz="9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sz="600" spc="70" dirty="0">
                <a:solidFill>
                  <a:srgbClr val="070707"/>
                </a:solidFill>
                <a:latin typeface="Calibri"/>
                <a:cs typeface="Calibri"/>
              </a:rPr>
              <a:t>September</a:t>
            </a:r>
            <a:r>
              <a:rPr sz="600" spc="120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lang="en-US" sz="600" spc="60" dirty="0">
                <a:solidFill>
                  <a:srgbClr val="070707"/>
                </a:solidFill>
                <a:latin typeface="Calibri"/>
                <a:cs typeface="Calibri"/>
              </a:rPr>
              <a:t>25</a:t>
            </a:r>
            <a:r>
              <a:rPr sz="600" spc="60" dirty="0">
                <a:solidFill>
                  <a:srgbClr val="070707"/>
                </a:solidFill>
                <a:latin typeface="Calibri"/>
                <a:cs typeface="Calibri"/>
              </a:rPr>
              <a:t>,</a:t>
            </a:r>
            <a:r>
              <a:rPr sz="600" spc="125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600" spc="40" dirty="0">
                <a:solidFill>
                  <a:srgbClr val="070707"/>
                </a:solidFill>
                <a:latin typeface="Calibri"/>
                <a:cs typeface="Calibri"/>
              </a:rPr>
              <a:t>2025</a:t>
            </a:r>
            <a:endParaRPr sz="6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275998"/>
            <a:ext cx="4608195" cy="0"/>
          </a:xfrm>
          <a:custGeom>
            <a:avLst/>
            <a:gdLst/>
            <a:ahLst/>
            <a:cxnLst/>
            <a:rect l="l" t="t" r="r" b="b"/>
            <a:pathLst>
              <a:path w="4608195">
                <a:moveTo>
                  <a:pt x="0" y="0"/>
                </a:moveTo>
                <a:lnTo>
                  <a:pt x="4608060" y="0"/>
                </a:lnTo>
              </a:path>
            </a:pathLst>
          </a:custGeom>
          <a:ln w="15183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14" dirty="0"/>
              <a:t>Presentation</a:t>
            </a:r>
            <a:r>
              <a:rPr spc="245" dirty="0"/>
              <a:t> </a:t>
            </a:r>
            <a:r>
              <a:rPr spc="12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3027" y="88524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070707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5071" y="324420"/>
            <a:ext cx="2890520" cy="46355"/>
            <a:chOff x="-5071" y="324420"/>
            <a:chExt cx="2890520" cy="46355"/>
          </a:xfrm>
        </p:grpSpPr>
        <p:sp>
          <p:nvSpPr>
            <p:cNvPr id="5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4195" y="587375"/>
            <a:ext cx="2425700" cy="2001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2"/>
                </a:solidFill>
                <a:latin typeface="Calibri"/>
                <a:cs typeface="Calibri"/>
              </a:rPr>
              <a:t>Introduction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dirty="0">
                <a:solidFill>
                  <a:schemeClr val="accent2"/>
                </a:solidFill>
                <a:latin typeface="Calibri"/>
                <a:cs typeface="Calibri"/>
              </a:rPr>
              <a:t>          Problem Description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dirty="0">
                <a:solidFill>
                  <a:schemeClr val="accent2"/>
                </a:solidFill>
                <a:latin typeface="Calibri"/>
                <a:cs typeface="Calibri"/>
              </a:rPr>
              <a:t>          Existing System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dirty="0">
                <a:solidFill>
                  <a:schemeClr val="accent2"/>
                </a:solidFill>
                <a:latin typeface="Calibri"/>
                <a:cs typeface="Calibri"/>
              </a:rPr>
              <a:t>          Problem Statement and Objectives</a:t>
            </a:r>
          </a:p>
          <a:p>
            <a:pPr marL="184150" indent="-17145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2"/>
                </a:solidFill>
                <a:latin typeface="Calibri"/>
                <a:cs typeface="Calibri"/>
              </a:rPr>
              <a:t>Literature Review</a:t>
            </a:r>
          </a:p>
          <a:p>
            <a:pPr marL="184150" indent="-17145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2"/>
                </a:solidFill>
                <a:latin typeface="Calibri"/>
                <a:cs typeface="Calibri"/>
              </a:rPr>
              <a:t>Methodology</a:t>
            </a:r>
          </a:p>
          <a:p>
            <a:pPr marL="184150" indent="-17145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2"/>
                </a:solidFill>
                <a:latin typeface="Calibri"/>
                <a:cs typeface="Calibri"/>
              </a:rPr>
              <a:t>Data Flow Diagram</a:t>
            </a:r>
          </a:p>
          <a:p>
            <a:pPr marL="184150" indent="-17145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2"/>
                </a:solidFill>
                <a:latin typeface="Calibri"/>
                <a:cs typeface="Calibri"/>
              </a:rPr>
              <a:t>Project Progress and Pending Works</a:t>
            </a:r>
          </a:p>
          <a:p>
            <a:pPr marL="184150" indent="-17145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2"/>
                </a:solidFill>
                <a:latin typeface="Calibri"/>
                <a:cs typeface="Calibri"/>
              </a:rPr>
              <a:t>Results and Screenshots</a:t>
            </a:r>
          </a:p>
          <a:p>
            <a:pPr marL="184150" indent="-17145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accent2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dirty="0">
                <a:latin typeface="Calibri"/>
                <a:cs typeface="Calibri"/>
              </a:rPr>
              <a:t>          </a:t>
            </a:r>
          </a:p>
        </p:txBody>
      </p:sp>
      <p:sp>
        <p:nvSpPr>
          <p:cNvPr id="8" name="object 8"/>
          <p:cNvSpPr/>
          <p:nvPr/>
        </p:nvSpPr>
        <p:spPr>
          <a:xfrm>
            <a:off x="0" y="3275998"/>
            <a:ext cx="4608195" cy="0"/>
          </a:xfrm>
          <a:custGeom>
            <a:avLst/>
            <a:gdLst/>
            <a:ahLst/>
            <a:cxnLst/>
            <a:rect l="l" t="t" r="r" b="b"/>
            <a:pathLst>
              <a:path w="4608195">
                <a:moveTo>
                  <a:pt x="0" y="0"/>
                </a:moveTo>
                <a:lnTo>
                  <a:pt x="4608060" y="0"/>
                </a:lnTo>
              </a:path>
            </a:pathLst>
          </a:custGeom>
          <a:ln w="15183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27314" y="1321419"/>
            <a:ext cx="11531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20" dirty="0">
                <a:solidFill>
                  <a:srgbClr val="BF003F"/>
                </a:solidFill>
                <a:latin typeface="Calibri"/>
                <a:cs typeface="Calibri"/>
                <a:hlinkClick r:id="rId2" action="ppaction://hlinksldjump"/>
              </a:rPr>
              <a:t>Introduction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03999" y="1737741"/>
            <a:ext cx="3600450" cy="0"/>
          </a:xfrm>
          <a:custGeom>
            <a:avLst/>
            <a:gdLst/>
            <a:ahLst/>
            <a:cxnLst/>
            <a:rect l="l" t="t" r="r" b="b"/>
            <a:pathLst>
              <a:path w="3600450">
                <a:moveTo>
                  <a:pt x="0" y="0"/>
                </a:moveTo>
                <a:lnTo>
                  <a:pt x="3600005" y="0"/>
                </a:lnTo>
              </a:path>
            </a:pathLst>
          </a:custGeom>
          <a:ln w="12649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45" dirty="0"/>
              <a:t>Problem</a:t>
            </a:r>
            <a:r>
              <a:rPr spc="235" dirty="0"/>
              <a:t> </a:t>
            </a:r>
            <a:r>
              <a:rPr spc="114" dirty="0"/>
              <a:t>Description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3480" y="88524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070707"/>
                </a:solidFill>
                <a:latin typeface="Calibri"/>
                <a:cs typeface="Calibri"/>
              </a:rPr>
              <a:t>4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5071" y="324420"/>
            <a:ext cx="2890520" cy="46355"/>
            <a:chOff x="-5071" y="324420"/>
            <a:chExt cx="2890520" cy="46355"/>
          </a:xfrm>
        </p:grpSpPr>
        <p:sp>
          <p:nvSpPr>
            <p:cNvPr id="5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147797" y="739775"/>
            <a:ext cx="4349932" cy="150432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Prenatal screening is critical for detecting fetal anomalies early.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</a:rPr>
              <a:t>NT thickness </a:t>
            </a:r>
            <a:r>
              <a:rPr lang="en-US" dirty="0">
                <a:solidFill>
                  <a:schemeClr val="tx1"/>
                </a:solidFill>
              </a:rPr>
              <a:t>is a key indicator for detecting </a:t>
            </a:r>
            <a:r>
              <a:rPr lang="en-US" dirty="0">
                <a:solidFill>
                  <a:srgbClr val="0070C0"/>
                </a:solidFill>
              </a:rPr>
              <a:t>Down Syndrome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Manual measurement is time-consuming, subjective and prone to human error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Lack of an automated, reliable system for NT detection, measurement, and risk classification.</a:t>
            </a:r>
          </a:p>
        </p:txBody>
      </p:sp>
      <p:sp>
        <p:nvSpPr>
          <p:cNvPr id="8" name="object 8"/>
          <p:cNvSpPr/>
          <p:nvPr/>
        </p:nvSpPr>
        <p:spPr>
          <a:xfrm>
            <a:off x="0" y="3275998"/>
            <a:ext cx="4608195" cy="0"/>
          </a:xfrm>
          <a:custGeom>
            <a:avLst/>
            <a:gdLst/>
            <a:ahLst/>
            <a:cxnLst/>
            <a:rect l="l" t="t" r="r" b="b"/>
            <a:pathLst>
              <a:path w="4608195">
                <a:moveTo>
                  <a:pt x="0" y="0"/>
                </a:moveTo>
                <a:lnTo>
                  <a:pt x="4608060" y="0"/>
                </a:lnTo>
              </a:path>
            </a:pathLst>
          </a:custGeom>
          <a:ln w="15183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5" dirty="0"/>
              <a:t>Existing</a:t>
            </a:r>
            <a:r>
              <a:rPr spc="229" dirty="0"/>
              <a:t> </a:t>
            </a:r>
            <a:r>
              <a:rPr spc="13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4161" y="88524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070707"/>
                </a:solidFill>
                <a:latin typeface="Calibri"/>
                <a:cs typeface="Calibri"/>
              </a:rPr>
              <a:t>5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5071" y="324420"/>
            <a:ext cx="2890520" cy="46355"/>
            <a:chOff x="-5071" y="324420"/>
            <a:chExt cx="2890520" cy="46355"/>
          </a:xfrm>
        </p:grpSpPr>
        <p:sp>
          <p:nvSpPr>
            <p:cNvPr id="5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4195" y="739775"/>
            <a:ext cx="4419601" cy="159409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419100" indent="-177165">
              <a:lnSpc>
                <a:spcPct val="150000"/>
              </a:lnSpc>
              <a:spcBef>
                <a:spcPts val="55"/>
              </a:spcBef>
              <a:buClr>
                <a:srgbClr val="001F44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lang="en-US" sz="1100" dirty="0">
                <a:solidFill>
                  <a:srgbClr val="070707"/>
                </a:solidFill>
                <a:latin typeface="Calibri"/>
                <a:cs typeface="Calibri"/>
              </a:rPr>
              <a:t>Traditional ultrasound interpretation relies on manual NT measurement by radiologists.</a:t>
            </a:r>
          </a:p>
          <a:p>
            <a:pPr marL="214629" marR="419100" indent="-177165">
              <a:lnSpc>
                <a:spcPct val="150000"/>
              </a:lnSpc>
              <a:spcBef>
                <a:spcPts val="55"/>
              </a:spcBef>
              <a:buClr>
                <a:srgbClr val="001F44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lang="en-US" sz="1100" spc="10" dirty="0">
                <a:solidFill>
                  <a:srgbClr val="070707"/>
                </a:solidFill>
                <a:latin typeface="Calibri"/>
                <a:cs typeface="Calibri"/>
              </a:rPr>
              <a:t>It is subjective as it is prone to human error and observer variability.</a:t>
            </a:r>
            <a:endParaRPr sz="1100" dirty="0">
              <a:latin typeface="Calibri"/>
              <a:cs typeface="Calibri"/>
            </a:endParaRPr>
          </a:p>
          <a:p>
            <a:pPr marL="214629" marR="30480" indent="-177165">
              <a:lnSpc>
                <a:spcPct val="150000"/>
              </a:lnSpc>
              <a:spcBef>
                <a:spcPts val="300"/>
              </a:spcBef>
              <a:buClr>
                <a:srgbClr val="001F44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lang="en-US" sz="1100" spc="10" dirty="0">
                <a:solidFill>
                  <a:srgbClr val="070707"/>
                </a:solidFill>
                <a:latin typeface="Calibri"/>
                <a:cs typeface="Calibri"/>
              </a:rPr>
              <a:t>Requires high expertise and experience for accuracy.</a:t>
            </a:r>
          </a:p>
          <a:p>
            <a:pPr marL="214629" marR="30480" indent="-177165">
              <a:lnSpc>
                <a:spcPct val="150000"/>
              </a:lnSpc>
              <a:spcBef>
                <a:spcPts val="300"/>
              </a:spcBef>
              <a:buClr>
                <a:srgbClr val="001F44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lang="en-US" sz="1100" spc="10" dirty="0">
                <a:solidFill>
                  <a:srgbClr val="070707"/>
                </a:solidFill>
                <a:latin typeface="Calibri"/>
                <a:cs typeface="Calibri"/>
              </a:rPr>
              <a:t>Time consuming</a:t>
            </a:r>
            <a:endParaRPr sz="1100" dirty="0">
              <a:solidFill>
                <a:schemeClr val="accent1"/>
              </a:solidFill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275998"/>
            <a:ext cx="4608195" cy="0"/>
          </a:xfrm>
          <a:custGeom>
            <a:avLst/>
            <a:gdLst/>
            <a:ahLst/>
            <a:cxnLst/>
            <a:rect l="l" t="t" r="r" b="b"/>
            <a:pathLst>
              <a:path w="4608195">
                <a:moveTo>
                  <a:pt x="0" y="0"/>
                </a:moveTo>
                <a:lnTo>
                  <a:pt x="4608060" y="0"/>
                </a:lnTo>
              </a:path>
            </a:pathLst>
          </a:custGeom>
          <a:ln w="15183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44500"/>
            <a:ext cx="307525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110" dirty="0"/>
              <a:t>Problem Statement and </a:t>
            </a:r>
            <a:r>
              <a:rPr spc="1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4315" y="88524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070707"/>
                </a:solidFill>
                <a:latin typeface="Calibri"/>
                <a:cs typeface="Calibri"/>
              </a:rPr>
              <a:t>6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5071" y="324420"/>
            <a:ext cx="2890520" cy="46355"/>
            <a:chOff x="-5071" y="324420"/>
            <a:chExt cx="2890520" cy="46355"/>
          </a:xfrm>
        </p:grpSpPr>
        <p:sp>
          <p:nvSpPr>
            <p:cNvPr id="5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0" y="3275998"/>
            <a:ext cx="4608195" cy="0"/>
          </a:xfrm>
          <a:custGeom>
            <a:avLst/>
            <a:gdLst/>
            <a:ahLst/>
            <a:cxnLst/>
            <a:rect l="l" t="t" r="r" b="b"/>
            <a:pathLst>
              <a:path w="4608195">
                <a:moveTo>
                  <a:pt x="0" y="0"/>
                </a:moveTo>
                <a:lnTo>
                  <a:pt x="4608060" y="0"/>
                </a:lnTo>
              </a:path>
            </a:pathLst>
          </a:custGeom>
          <a:ln w="15183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" y="748467"/>
            <a:ext cx="4222865" cy="552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050" dirty="0">
                <a:latin typeface="+mn-lt"/>
              </a:rPr>
              <a:t>Development of an automated pipeline for Down Syndrome risk assessment from first trimester ultrasound images using deep learning</a:t>
            </a:r>
            <a:r>
              <a:rPr lang="en-US" sz="1000" dirty="0"/>
              <a:t>.</a:t>
            </a:r>
            <a:endParaRPr lang="en-IN" sz="1000" dirty="0"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26" y="529242"/>
            <a:ext cx="2362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</a:rPr>
              <a:t>Problem Statement </a:t>
            </a:r>
            <a:r>
              <a:rPr lang="en-US" sz="1100" dirty="0">
                <a:solidFill>
                  <a:schemeClr val="accent1"/>
                </a:solidFill>
              </a:rPr>
              <a:t>:</a:t>
            </a:r>
            <a:endParaRPr lang="en-IN" sz="1100" dirty="0">
              <a:solidFill>
                <a:schemeClr val="accent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163" y="1369151"/>
            <a:ext cx="2362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</a:rPr>
              <a:t>Objectives</a:t>
            </a:r>
            <a:r>
              <a:rPr lang="en-US" sz="1100" dirty="0">
                <a:solidFill>
                  <a:schemeClr val="accent1"/>
                </a:solidFill>
              </a:rPr>
              <a:t> :</a:t>
            </a:r>
            <a:endParaRPr lang="en-IN" sz="1100" dirty="0">
              <a:solidFill>
                <a:schemeClr val="accent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1519703"/>
            <a:ext cx="4222865" cy="1521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50" b="1" dirty="0">
                <a:latin typeface="+mn-lt"/>
              </a:rPr>
              <a:t>Preprocessing</a:t>
            </a:r>
            <a:r>
              <a:rPr lang="en-IN" sz="1050" dirty="0">
                <a:latin typeface="+mn-lt"/>
              </a:rPr>
              <a:t>: Normalize prenatal ultrasound images.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50" b="1" dirty="0">
                <a:latin typeface="+mn-lt"/>
              </a:rPr>
              <a:t>Segmentation</a:t>
            </a:r>
            <a:r>
              <a:rPr lang="en-IN" sz="1050" dirty="0">
                <a:latin typeface="+mn-lt"/>
              </a:rPr>
              <a:t>: Apply U-Net to find and segment the NT region.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50" b="1" dirty="0">
                <a:latin typeface="+mn-lt"/>
              </a:rPr>
              <a:t>Classification</a:t>
            </a:r>
            <a:r>
              <a:rPr lang="en-IN" sz="1050" dirty="0">
                <a:latin typeface="+mn-lt"/>
              </a:rPr>
              <a:t>: Apply CNN to classify scans as standard or non-standard.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50" b="1" dirty="0">
                <a:latin typeface="+mn-lt"/>
              </a:rPr>
              <a:t>Risk Assessment: </a:t>
            </a:r>
            <a:r>
              <a:rPr lang="en-IN" sz="1050" dirty="0">
                <a:latin typeface="+mn-lt"/>
              </a:rPr>
              <a:t>Use extracted NT features for Down Syndrome risk prediction.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50" b="1" dirty="0">
                <a:latin typeface="+mn-lt"/>
              </a:rPr>
              <a:t>Visualization</a:t>
            </a:r>
            <a:r>
              <a:rPr lang="en-IN" sz="1050" dirty="0">
                <a:latin typeface="+mn-lt"/>
              </a:rPr>
              <a:t>: Highlight segmented NT region and display risk </a:t>
            </a:r>
            <a:r>
              <a:rPr lang="en-IN" sz="1050" dirty="0" err="1">
                <a:latin typeface="+mn-lt"/>
              </a:rPr>
              <a:t>outcom</a:t>
            </a:r>
            <a:endParaRPr lang="en-IN" sz="1050" dirty="0">
              <a:latin typeface="+mn-lt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50" y="282575"/>
            <a:ext cx="2133600" cy="215444"/>
          </a:xfrm>
        </p:spPr>
        <p:txBody>
          <a:bodyPr/>
          <a:lstStyle/>
          <a:p>
            <a:r>
              <a:rPr lang="en-US" b="0" dirty="0"/>
              <a:t>Sample NT Scan</a:t>
            </a:r>
            <a:endParaRPr lang="en-IN" b="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2C37A33-94F8-13DF-0052-65D5C6744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861685"/>
            <a:ext cx="3524250" cy="1618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1189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6844" y="1321419"/>
            <a:ext cx="16541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35" dirty="0">
                <a:solidFill>
                  <a:srgbClr val="BF003F"/>
                </a:solidFill>
                <a:latin typeface="Calibri"/>
                <a:cs typeface="Calibri"/>
                <a:hlinkClick r:id="rId2" action="ppaction://hlinksldjump"/>
              </a:rPr>
              <a:t>Literature</a:t>
            </a:r>
            <a:r>
              <a:rPr sz="1400" b="1" spc="245" dirty="0">
                <a:solidFill>
                  <a:srgbClr val="BF003F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400" b="1" spc="135" dirty="0">
                <a:solidFill>
                  <a:srgbClr val="BF003F"/>
                </a:solidFill>
                <a:latin typeface="Calibri"/>
                <a:cs typeface="Calibri"/>
                <a:hlinkClick r:id="rId2" action="ppaction://hlinksldjump"/>
              </a:rPr>
              <a:t>Review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03999" y="1737741"/>
            <a:ext cx="3600450" cy="0"/>
          </a:xfrm>
          <a:custGeom>
            <a:avLst/>
            <a:gdLst/>
            <a:ahLst/>
            <a:cxnLst/>
            <a:rect l="l" t="t" r="r" b="b"/>
            <a:pathLst>
              <a:path w="3600450">
                <a:moveTo>
                  <a:pt x="0" y="0"/>
                </a:moveTo>
                <a:lnTo>
                  <a:pt x="3600005" y="0"/>
                </a:lnTo>
              </a:path>
            </a:pathLst>
          </a:custGeom>
          <a:ln w="12649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35" dirty="0"/>
              <a:t>Literature</a:t>
            </a:r>
            <a:r>
              <a:rPr spc="245" dirty="0"/>
              <a:t> </a:t>
            </a:r>
            <a:r>
              <a:rPr spc="135" dirty="0"/>
              <a:t>Review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2498" y="-403345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070707"/>
                </a:solidFill>
                <a:latin typeface="Calibri"/>
                <a:cs typeface="Calibri"/>
              </a:rPr>
              <a:t>8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5071" y="324420"/>
            <a:ext cx="2890520" cy="46355"/>
            <a:chOff x="-5071" y="324420"/>
            <a:chExt cx="2890520" cy="46355"/>
          </a:xfrm>
        </p:grpSpPr>
        <p:sp>
          <p:nvSpPr>
            <p:cNvPr id="5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265075" y="775305"/>
            <a:ext cx="3888740" cy="0"/>
          </a:xfrm>
          <a:custGeom>
            <a:avLst/>
            <a:gdLst/>
            <a:ahLst/>
            <a:cxnLst/>
            <a:rect l="l" t="t" r="r" b="b"/>
            <a:pathLst>
              <a:path w="3888740">
                <a:moveTo>
                  <a:pt x="0" y="0"/>
                </a:moveTo>
                <a:lnTo>
                  <a:pt x="3888167" y="0"/>
                </a:lnTo>
              </a:path>
            </a:pathLst>
          </a:custGeom>
          <a:ln w="6577">
            <a:solidFill>
              <a:srgbClr val="07070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4125" y="820113"/>
            <a:ext cx="873187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60" dirty="0">
                <a:solidFill>
                  <a:srgbClr val="070707"/>
                </a:solidFill>
                <a:latin typeface="Calibri"/>
                <a:cs typeface="Calibri"/>
              </a:rPr>
              <a:t>Author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1526" y="841348"/>
            <a:ext cx="1446054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50" dirty="0">
                <a:solidFill>
                  <a:srgbClr val="070707"/>
                </a:solidFill>
                <a:latin typeface="Calibri"/>
                <a:cs typeface="Calibri"/>
              </a:rPr>
              <a:t>Contribution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00250" y="826200"/>
            <a:ext cx="1279201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50" dirty="0">
                <a:solidFill>
                  <a:srgbClr val="070707"/>
                </a:solidFill>
                <a:latin typeface="Calibri"/>
                <a:cs typeface="Calibri"/>
              </a:rPr>
              <a:t>Limitations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79451" y="825270"/>
            <a:ext cx="997843" cy="167482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70"/>
              </a:spcBef>
            </a:pPr>
            <a:r>
              <a:rPr sz="1000" b="1" spc="50" dirty="0">
                <a:solidFill>
                  <a:srgbClr val="070707"/>
                </a:solidFill>
                <a:latin typeface="Calibri"/>
                <a:cs typeface="Calibri"/>
              </a:rPr>
              <a:t>Methods</a:t>
            </a:r>
            <a:r>
              <a:rPr sz="1000" b="1" spc="500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1000" b="1" spc="40" dirty="0">
                <a:solidFill>
                  <a:srgbClr val="070707"/>
                </a:solidFill>
                <a:latin typeface="Calibri"/>
                <a:cs typeface="Calibri"/>
              </a:rPr>
              <a:t>Used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4125" y="1037558"/>
            <a:ext cx="3888740" cy="0"/>
          </a:xfrm>
          <a:custGeom>
            <a:avLst/>
            <a:gdLst/>
            <a:ahLst/>
            <a:cxnLst/>
            <a:rect l="l" t="t" r="r" b="b"/>
            <a:pathLst>
              <a:path w="3888740">
                <a:moveTo>
                  <a:pt x="0" y="0"/>
                </a:moveTo>
                <a:lnTo>
                  <a:pt x="3888167" y="0"/>
                </a:lnTo>
              </a:path>
            </a:pathLst>
          </a:custGeom>
          <a:ln w="4106">
            <a:solidFill>
              <a:srgbClr val="07070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19778" y="1089267"/>
            <a:ext cx="459740" cy="25725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70"/>
              </a:spcBef>
            </a:pPr>
            <a:r>
              <a:rPr lang="en-IN" sz="800" dirty="0">
                <a:solidFill>
                  <a:schemeClr val="tx1"/>
                </a:solidFill>
                <a:latin typeface="+mn-lt"/>
                <a:cs typeface="Calibri"/>
              </a:rPr>
              <a:t>Verma et al. (2022)</a:t>
            </a:r>
            <a:endParaRPr sz="800" dirty="0">
              <a:solidFill>
                <a:schemeClr val="tx1"/>
              </a:solidFill>
              <a:latin typeface="+mn-lt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59911" y="1088020"/>
            <a:ext cx="886460" cy="38491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70"/>
              </a:spcBef>
            </a:pPr>
            <a:r>
              <a:rPr lang="en-US" sz="800" dirty="0">
                <a:solidFill>
                  <a:schemeClr val="tx1"/>
                </a:solidFill>
                <a:latin typeface="+mn-lt"/>
                <a:cs typeface="Calibri"/>
              </a:rPr>
              <a:t>Classified abnormal vs normal risk in fetal NT scans</a:t>
            </a:r>
            <a:endParaRPr sz="800" dirty="0">
              <a:solidFill>
                <a:schemeClr val="tx1"/>
              </a:solidFill>
              <a:latin typeface="+mn-lt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00415" y="1104186"/>
            <a:ext cx="1085327" cy="511743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70"/>
              </a:spcBef>
            </a:pPr>
            <a:r>
              <a:rPr lang="en-US" sz="800" dirty="0">
                <a:solidFill>
                  <a:schemeClr val="tx1"/>
                </a:solidFill>
                <a:latin typeface="+mn-lt"/>
                <a:cs typeface="Calibri"/>
              </a:rPr>
              <a:t>Focused only on classification; small dataset; no segmentation or measurement</a:t>
            </a:r>
            <a:endParaRPr sz="800" dirty="0">
              <a:solidFill>
                <a:schemeClr val="tx1"/>
              </a:solidFill>
              <a:latin typeface="+mn-lt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79450" y="1067663"/>
            <a:ext cx="1030345" cy="511743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70"/>
              </a:spcBef>
            </a:pPr>
            <a:r>
              <a:rPr lang="en-US" sz="800" dirty="0">
                <a:solidFill>
                  <a:schemeClr val="tx1"/>
                </a:solidFill>
                <a:latin typeface="+mn-lt"/>
                <a:cs typeface="Calibri"/>
              </a:rPr>
              <a:t>Adaptive SGD with NT features; evaluated using accuracy, precision, recall</a:t>
            </a:r>
            <a:endParaRPr sz="800" dirty="0">
              <a:solidFill>
                <a:schemeClr val="tx1"/>
              </a:solidFill>
              <a:latin typeface="+mn-lt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9778" y="1613505"/>
            <a:ext cx="3888740" cy="0"/>
          </a:xfrm>
          <a:custGeom>
            <a:avLst/>
            <a:gdLst/>
            <a:ahLst/>
            <a:cxnLst/>
            <a:rect l="l" t="t" r="r" b="b"/>
            <a:pathLst>
              <a:path w="3888740">
                <a:moveTo>
                  <a:pt x="0" y="0"/>
                </a:moveTo>
                <a:lnTo>
                  <a:pt x="3888167" y="0"/>
                </a:lnTo>
              </a:path>
            </a:pathLst>
          </a:custGeom>
          <a:ln w="4106">
            <a:solidFill>
              <a:srgbClr val="07070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35805" y="1648215"/>
            <a:ext cx="476250" cy="25725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70"/>
              </a:spcBef>
            </a:pPr>
            <a:r>
              <a:rPr lang="en-IN" sz="800" dirty="0">
                <a:solidFill>
                  <a:schemeClr val="tx1"/>
                </a:solidFill>
                <a:latin typeface="+mn-lt"/>
                <a:cs typeface="Calibri"/>
              </a:rPr>
              <a:t>Oza et al. (2021)</a:t>
            </a:r>
            <a:endParaRPr sz="800" dirty="0">
              <a:solidFill>
                <a:schemeClr val="tx1"/>
              </a:solidFill>
              <a:latin typeface="+mn-lt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6133" y="1642474"/>
            <a:ext cx="1069975" cy="38491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70"/>
              </a:spcBef>
            </a:pPr>
            <a:r>
              <a:rPr lang="en-US" sz="800" dirty="0">
                <a:solidFill>
                  <a:schemeClr val="tx1"/>
                </a:solidFill>
                <a:latin typeface="+mn-lt"/>
                <a:cs typeface="Calibri"/>
              </a:rPr>
              <a:t>Automated NT segmentation and thickness measurement</a:t>
            </a:r>
            <a:endParaRPr sz="800" dirty="0">
              <a:solidFill>
                <a:schemeClr val="tx1"/>
              </a:solidFill>
              <a:latin typeface="+mn-lt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95289" y="1644716"/>
            <a:ext cx="998219" cy="510909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70"/>
              </a:spcBef>
            </a:pPr>
            <a:r>
              <a:rPr lang="en-US" sz="800" dirty="0">
                <a:solidFill>
                  <a:schemeClr val="tx1"/>
                </a:solidFill>
                <a:latin typeface="+mn-lt"/>
                <a:cs typeface="Calibri"/>
              </a:rPr>
              <a:t>Relied on hand-crafted features; less accurate and robust than deep learning</a:t>
            </a:r>
            <a:endParaRPr sz="800" dirty="0">
              <a:solidFill>
                <a:schemeClr val="tx1"/>
              </a:solidFill>
              <a:latin typeface="+mn-lt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75480" y="1611870"/>
            <a:ext cx="1001814" cy="25725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70"/>
              </a:spcBef>
            </a:pPr>
            <a:r>
              <a:rPr lang="en-IN" sz="800" dirty="0">
                <a:solidFill>
                  <a:schemeClr val="tx1"/>
                </a:solidFill>
                <a:latin typeface="+mn-lt"/>
                <a:cs typeface="Calibri"/>
              </a:rPr>
              <a:t>SIFT </a:t>
            </a:r>
            <a:r>
              <a:rPr lang="en-IN" sz="800" dirty="0" err="1">
                <a:solidFill>
                  <a:schemeClr val="tx1"/>
                </a:solidFill>
                <a:latin typeface="+mn-lt"/>
                <a:cs typeface="Calibri"/>
              </a:rPr>
              <a:t>keypoints</a:t>
            </a:r>
            <a:r>
              <a:rPr lang="en-IN" sz="800" dirty="0">
                <a:solidFill>
                  <a:schemeClr val="tx1"/>
                </a:solidFill>
                <a:latin typeface="+mn-lt"/>
                <a:cs typeface="Calibri"/>
              </a:rPr>
              <a:t> + GRNN model</a:t>
            </a:r>
            <a:endParaRPr sz="800" dirty="0">
              <a:solidFill>
                <a:schemeClr val="tx1"/>
              </a:solidFill>
              <a:latin typeface="+mn-lt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19778" y="2169938"/>
            <a:ext cx="3888740" cy="0"/>
          </a:xfrm>
          <a:custGeom>
            <a:avLst/>
            <a:gdLst/>
            <a:ahLst/>
            <a:cxnLst/>
            <a:rect l="l" t="t" r="r" b="b"/>
            <a:pathLst>
              <a:path w="3888740">
                <a:moveTo>
                  <a:pt x="0" y="0"/>
                </a:moveTo>
                <a:lnTo>
                  <a:pt x="3888167" y="0"/>
                </a:lnTo>
              </a:path>
            </a:pathLst>
          </a:custGeom>
          <a:ln w="4106">
            <a:solidFill>
              <a:srgbClr val="07070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8861" y="2230988"/>
            <a:ext cx="459787" cy="25808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70"/>
              </a:spcBef>
            </a:pPr>
            <a:r>
              <a:rPr lang="en-IN" sz="800" dirty="0">
                <a:solidFill>
                  <a:schemeClr val="tx1"/>
                </a:solidFill>
                <a:latin typeface="+mn-lt"/>
                <a:cs typeface="Calibri"/>
              </a:rPr>
              <a:t>Thomas et al. (2024)</a:t>
            </a:r>
            <a:endParaRPr sz="800" dirty="0">
              <a:solidFill>
                <a:schemeClr val="tx1"/>
              </a:solidFill>
              <a:latin typeface="+mn-lt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39203" y="2267616"/>
            <a:ext cx="972799" cy="514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70"/>
              </a:spcBef>
            </a:pPr>
            <a:r>
              <a:rPr lang="en-US" sz="800" dirty="0">
                <a:solidFill>
                  <a:schemeClr val="tx1"/>
                </a:solidFill>
                <a:latin typeface="+mn-lt"/>
                <a:cs typeface="Calibri"/>
              </a:rPr>
              <a:t>Compared segmentation approaches for NT measurement</a:t>
            </a:r>
            <a:endParaRPr sz="800" dirty="0">
              <a:solidFill>
                <a:schemeClr val="tx1"/>
              </a:solidFill>
              <a:latin typeface="+mn-lt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97757" y="2251007"/>
            <a:ext cx="1203655" cy="5149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70"/>
              </a:spcBef>
            </a:pPr>
            <a:r>
              <a:rPr lang="en-US" sz="800" dirty="0">
                <a:solidFill>
                  <a:schemeClr val="tx1"/>
                </a:solidFill>
                <a:latin typeface="+mn-lt"/>
                <a:cs typeface="Calibri"/>
              </a:rPr>
              <a:t>Traditional methods struggled with noisy ultrasound; no classification or risk assessment</a:t>
            </a:r>
            <a:endParaRPr sz="800" dirty="0">
              <a:solidFill>
                <a:schemeClr val="tx1"/>
              </a:solidFill>
              <a:latin typeface="+mn-lt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57449" y="2230988"/>
            <a:ext cx="1061355" cy="3840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70"/>
              </a:spcBef>
            </a:pPr>
            <a:r>
              <a:rPr lang="en-IN" sz="800" dirty="0">
                <a:solidFill>
                  <a:schemeClr val="tx1"/>
                </a:solidFill>
                <a:latin typeface="+mn-lt"/>
                <a:cs typeface="Calibri"/>
              </a:rPr>
              <a:t>Edge detection, Active Contour, Chan-Vese algorithms</a:t>
            </a:r>
            <a:endParaRPr sz="800" dirty="0">
              <a:solidFill>
                <a:schemeClr val="tx1"/>
              </a:solidFill>
              <a:latin typeface="+mn-lt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48861" y="2832705"/>
            <a:ext cx="3888740" cy="0"/>
          </a:xfrm>
          <a:custGeom>
            <a:avLst/>
            <a:gdLst/>
            <a:ahLst/>
            <a:cxnLst/>
            <a:rect l="l" t="t" r="r" b="b"/>
            <a:pathLst>
              <a:path w="3888740">
                <a:moveTo>
                  <a:pt x="0" y="0"/>
                </a:moveTo>
                <a:lnTo>
                  <a:pt x="3888167" y="0"/>
                </a:lnTo>
              </a:path>
            </a:pathLst>
          </a:custGeom>
          <a:ln w="6577">
            <a:solidFill>
              <a:srgbClr val="07070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05" y="3178175"/>
            <a:ext cx="4608195" cy="0"/>
          </a:xfrm>
          <a:custGeom>
            <a:avLst/>
            <a:gdLst/>
            <a:ahLst/>
            <a:cxnLst/>
            <a:rect l="l" t="t" r="r" b="b"/>
            <a:pathLst>
              <a:path w="4608195">
                <a:moveTo>
                  <a:pt x="0" y="0"/>
                </a:moveTo>
                <a:lnTo>
                  <a:pt x="4608060" y="0"/>
                </a:lnTo>
              </a:path>
            </a:pathLst>
          </a:custGeom>
          <a:ln w="15183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3222" y="1321419"/>
            <a:ext cx="12020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14" dirty="0">
                <a:solidFill>
                  <a:srgbClr val="BF003F"/>
                </a:solidFill>
                <a:latin typeface="Calibri"/>
                <a:cs typeface="Calibri"/>
                <a:hlinkClick r:id="rId2" action="ppaction://hlinksldjump"/>
              </a:rPr>
              <a:t>Methodology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03999" y="1737741"/>
            <a:ext cx="3600450" cy="0"/>
          </a:xfrm>
          <a:custGeom>
            <a:avLst/>
            <a:gdLst/>
            <a:ahLst/>
            <a:cxnLst/>
            <a:rect l="l" t="t" r="r" b="b"/>
            <a:pathLst>
              <a:path w="3600450">
                <a:moveTo>
                  <a:pt x="0" y="0"/>
                </a:moveTo>
                <a:lnTo>
                  <a:pt x="3600005" y="0"/>
                </a:lnTo>
              </a:path>
            </a:pathLst>
          </a:custGeom>
          <a:ln w="12649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14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31304" y="88524"/>
            <a:ext cx="152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070707"/>
                </a:solidFill>
                <a:latin typeface="Calibri"/>
                <a:cs typeface="Calibri"/>
              </a:rPr>
              <a:t>11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5071" y="324420"/>
            <a:ext cx="2890520" cy="46355"/>
            <a:chOff x="-5071" y="324420"/>
            <a:chExt cx="2890520" cy="46355"/>
          </a:xfrm>
        </p:grpSpPr>
        <p:sp>
          <p:nvSpPr>
            <p:cNvPr id="5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7568" y="472337"/>
            <a:ext cx="4040504" cy="271850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40665" marR="5080" indent="-228600" algn="just">
              <a:lnSpc>
                <a:spcPct val="102600"/>
              </a:lnSpc>
              <a:spcBef>
                <a:spcPts val="55"/>
              </a:spcBef>
              <a:buClr>
                <a:srgbClr val="001F44"/>
              </a:buClr>
              <a:buFont typeface="+mj-lt"/>
              <a:buAutoNum type="arabicPeriod"/>
              <a:tabLst>
                <a:tab pos="189230" algn="l"/>
              </a:tabLst>
            </a:pPr>
            <a:r>
              <a:rPr sz="1100" b="1" dirty="0">
                <a:solidFill>
                  <a:schemeClr val="tx1"/>
                </a:solidFill>
                <a:latin typeface="+mn-lt"/>
                <a:cs typeface="Calibri"/>
              </a:rPr>
              <a:t>System Architecture:</a:t>
            </a:r>
            <a:r>
              <a:rPr sz="1100" dirty="0">
                <a:solidFill>
                  <a:schemeClr val="tx1"/>
                </a:solidFill>
                <a:latin typeface="+mn-lt"/>
                <a:cs typeface="Calibri"/>
              </a:rPr>
              <a:t> </a:t>
            </a:r>
            <a:r>
              <a:rPr lang="en-US" sz="1100" dirty="0">
                <a:solidFill>
                  <a:schemeClr val="tx1"/>
                </a:solidFill>
                <a:latin typeface="+mn-lt"/>
                <a:cs typeface="Calibri"/>
              </a:rPr>
              <a:t>A deep learning framework built in two phases: CNN classifier to determine whether the scan is a standard sagittal view or non-standard, followed by U-Net to accurately segment NT region.</a:t>
            </a:r>
          </a:p>
          <a:p>
            <a:pPr marL="240665" marR="5080" indent="-228600" algn="just">
              <a:lnSpc>
                <a:spcPct val="102600"/>
              </a:lnSpc>
              <a:spcBef>
                <a:spcPts val="55"/>
              </a:spcBef>
              <a:buClr>
                <a:srgbClr val="001F44"/>
              </a:buClr>
              <a:buFont typeface="+mj-lt"/>
              <a:buAutoNum type="arabicPeriod"/>
              <a:tabLst>
                <a:tab pos="189230" algn="l"/>
              </a:tabLst>
            </a:pPr>
            <a:endParaRPr lang="en-US" sz="1100" dirty="0">
              <a:solidFill>
                <a:schemeClr val="tx1"/>
              </a:solidFill>
              <a:latin typeface="+mn-lt"/>
              <a:cs typeface="Calibri"/>
            </a:endParaRPr>
          </a:p>
          <a:p>
            <a:pPr marL="240665" marR="5080" indent="-228600" algn="just">
              <a:lnSpc>
                <a:spcPct val="102600"/>
              </a:lnSpc>
              <a:spcBef>
                <a:spcPts val="55"/>
              </a:spcBef>
              <a:buClr>
                <a:srgbClr val="001F44"/>
              </a:buClr>
              <a:buFont typeface="+mj-lt"/>
              <a:buAutoNum type="arabicPeriod"/>
              <a:tabLst>
                <a:tab pos="189230" algn="l"/>
              </a:tabLst>
            </a:pPr>
            <a:r>
              <a:rPr sz="1100" b="1" dirty="0">
                <a:solidFill>
                  <a:schemeClr val="tx1"/>
                </a:solidFill>
                <a:latin typeface="+mn-lt"/>
                <a:cs typeface="Calibri"/>
              </a:rPr>
              <a:t>Data Preprocessing: </a:t>
            </a:r>
            <a:r>
              <a:rPr lang="en-US" sz="1100" dirty="0">
                <a:solidFill>
                  <a:schemeClr val="tx1"/>
                </a:solidFill>
                <a:latin typeface="+mn-lt"/>
                <a:cs typeface="Calibri"/>
              </a:rPr>
              <a:t>NT</a:t>
            </a:r>
            <a:r>
              <a:rPr sz="1100" dirty="0">
                <a:solidFill>
                  <a:schemeClr val="tx1"/>
                </a:solidFill>
                <a:latin typeface="+mn-lt"/>
                <a:cs typeface="Calibri"/>
              </a:rPr>
              <a:t> scan normalization,</a:t>
            </a:r>
            <a:r>
              <a:rPr lang="en-US" sz="1100" dirty="0">
                <a:solidFill>
                  <a:schemeClr val="tx1"/>
                </a:solidFill>
                <a:latin typeface="+mn-lt"/>
                <a:cs typeface="Calibri"/>
              </a:rPr>
              <a:t> </a:t>
            </a:r>
            <a:r>
              <a:rPr lang="en-IN" sz="1100" dirty="0">
                <a:solidFill>
                  <a:schemeClr val="tx1"/>
                </a:solidFill>
                <a:latin typeface="+mn-lt"/>
                <a:cs typeface="Calibri"/>
              </a:rPr>
              <a:t>data augmentation to </a:t>
            </a:r>
            <a:r>
              <a:rPr lang="en-US" sz="1100" dirty="0">
                <a:solidFill>
                  <a:schemeClr val="tx1"/>
                </a:solidFill>
                <a:latin typeface="+mn-lt"/>
                <a:cs typeface="Calibri"/>
              </a:rPr>
              <a:t>improve model performance.</a:t>
            </a:r>
          </a:p>
          <a:p>
            <a:pPr marL="240665" marR="5080" indent="-228600" algn="just">
              <a:lnSpc>
                <a:spcPct val="102600"/>
              </a:lnSpc>
              <a:spcBef>
                <a:spcPts val="55"/>
              </a:spcBef>
              <a:buClr>
                <a:srgbClr val="001F44"/>
              </a:buClr>
              <a:buFont typeface="+mj-lt"/>
              <a:buAutoNum type="arabicPeriod"/>
              <a:tabLst>
                <a:tab pos="189230" algn="l"/>
              </a:tabLst>
            </a:pPr>
            <a:endParaRPr lang="en-US" sz="1100" dirty="0">
              <a:solidFill>
                <a:schemeClr val="tx1"/>
              </a:solidFill>
              <a:latin typeface="+mn-lt"/>
              <a:cs typeface="Calibri"/>
            </a:endParaRPr>
          </a:p>
          <a:p>
            <a:pPr marL="240665" marR="5080" indent="-228600" algn="just">
              <a:lnSpc>
                <a:spcPct val="102600"/>
              </a:lnSpc>
              <a:spcBef>
                <a:spcPts val="55"/>
              </a:spcBef>
              <a:buClr>
                <a:srgbClr val="001F44"/>
              </a:buClr>
              <a:buFont typeface="+mj-lt"/>
              <a:buAutoNum type="arabicPeriod"/>
              <a:tabLst>
                <a:tab pos="189230" algn="l"/>
              </a:tabLst>
            </a:pPr>
            <a:r>
              <a:rPr sz="1100" b="1" dirty="0">
                <a:solidFill>
                  <a:schemeClr val="tx1"/>
                </a:solidFill>
                <a:latin typeface="+mn-lt"/>
                <a:cs typeface="Calibri"/>
              </a:rPr>
              <a:t>Model Development</a:t>
            </a:r>
            <a:r>
              <a:rPr sz="1100" dirty="0">
                <a:solidFill>
                  <a:schemeClr val="tx1"/>
                </a:solidFill>
                <a:latin typeface="+mn-lt"/>
                <a:cs typeface="Calibri"/>
              </a:rPr>
              <a:t>:</a:t>
            </a:r>
          </a:p>
          <a:p>
            <a:pPr marL="183515" marR="5080" lvl="5" indent="-171450" algn="just">
              <a:lnSpc>
                <a:spcPct val="102600"/>
              </a:lnSpc>
              <a:spcBef>
                <a:spcPts val="55"/>
              </a:spcBef>
              <a:buClr>
                <a:srgbClr val="001F44"/>
              </a:buClr>
              <a:buFont typeface="Arial" panose="020B0604020202020204" pitchFamily="34" charset="0"/>
              <a:buChar char="•"/>
              <a:tabLst>
                <a:tab pos="189230" algn="l"/>
              </a:tabLst>
            </a:pPr>
            <a:r>
              <a:rPr lang="en-IN" sz="1100" dirty="0">
                <a:solidFill>
                  <a:schemeClr val="tx1"/>
                </a:solidFill>
                <a:latin typeface="+mn-lt"/>
                <a:cs typeface="Calibri"/>
              </a:rPr>
              <a:t>	CNN classifier (ResNet18) for binary classification (standard / non-standard sagittal NT scans). </a:t>
            </a:r>
          </a:p>
          <a:p>
            <a:pPr marL="183515" marR="5080" lvl="5" indent="-171450" algn="just">
              <a:lnSpc>
                <a:spcPct val="102600"/>
              </a:lnSpc>
              <a:spcBef>
                <a:spcPts val="55"/>
              </a:spcBef>
              <a:buClr>
                <a:srgbClr val="001F44"/>
              </a:buClr>
              <a:buFont typeface="Arial" panose="020B0604020202020204" pitchFamily="34" charset="0"/>
              <a:buChar char="•"/>
              <a:tabLst>
                <a:tab pos="189230" algn="l"/>
              </a:tabLst>
            </a:pPr>
            <a:r>
              <a:rPr lang="en-US" sz="1100" dirty="0">
                <a:solidFill>
                  <a:schemeClr val="tx1"/>
                </a:solidFill>
                <a:latin typeface="+mn-lt"/>
                <a:cs typeface="Calibri"/>
              </a:rPr>
              <a:t>U-Net to accurately segment the NT region. </a:t>
            </a:r>
          </a:p>
          <a:p>
            <a:pPr marL="183515" marR="5080" lvl="5" indent="-171450" algn="just">
              <a:lnSpc>
                <a:spcPct val="102600"/>
              </a:lnSpc>
              <a:spcBef>
                <a:spcPts val="55"/>
              </a:spcBef>
              <a:buClr>
                <a:srgbClr val="001F44"/>
              </a:buClr>
              <a:buFont typeface="Arial" panose="020B0604020202020204" pitchFamily="34" charset="0"/>
              <a:buChar char="•"/>
              <a:tabLst>
                <a:tab pos="189230" algn="l"/>
              </a:tabLst>
            </a:pPr>
            <a:r>
              <a:rPr lang="en-US" sz="1100" dirty="0">
                <a:solidFill>
                  <a:schemeClr val="tx1"/>
                </a:solidFill>
                <a:latin typeface="+mn-lt"/>
                <a:cs typeface="Calibri"/>
              </a:rPr>
              <a:t>NT Thickness Measurement</a:t>
            </a:r>
          </a:p>
          <a:p>
            <a:pPr marL="183515" marR="5080" lvl="5" indent="-171450" algn="just">
              <a:lnSpc>
                <a:spcPct val="102600"/>
              </a:lnSpc>
              <a:spcBef>
                <a:spcPts val="55"/>
              </a:spcBef>
              <a:buClr>
                <a:srgbClr val="001F44"/>
              </a:buClr>
              <a:buFont typeface="Arial" panose="020B0604020202020204" pitchFamily="34" charset="0"/>
              <a:buChar char="•"/>
              <a:tabLst>
                <a:tab pos="189230" algn="l"/>
              </a:tabLst>
            </a:pPr>
            <a:r>
              <a:rPr lang="en-IN" sz="1100" dirty="0">
                <a:solidFill>
                  <a:schemeClr val="tx1"/>
                </a:solidFill>
                <a:latin typeface="+mn-lt"/>
                <a:cs typeface="Calibri"/>
              </a:rPr>
              <a:t>Risk Assessment : </a:t>
            </a:r>
            <a:r>
              <a:rPr lang="en-US" sz="1100" dirty="0">
                <a:solidFill>
                  <a:schemeClr val="tx1"/>
                </a:solidFill>
                <a:latin typeface="+mn-lt"/>
                <a:cs typeface="Calibri"/>
              </a:rPr>
              <a:t>rule based. If thickness greater than 3mm -&gt; high risk, else low risk.</a:t>
            </a:r>
          </a:p>
        </p:txBody>
      </p:sp>
      <p:sp>
        <p:nvSpPr>
          <p:cNvPr id="8" name="object 8"/>
          <p:cNvSpPr/>
          <p:nvPr/>
        </p:nvSpPr>
        <p:spPr>
          <a:xfrm>
            <a:off x="0" y="3275998"/>
            <a:ext cx="4608195" cy="0"/>
          </a:xfrm>
          <a:custGeom>
            <a:avLst/>
            <a:gdLst/>
            <a:ahLst/>
            <a:cxnLst/>
            <a:rect l="l" t="t" r="r" b="b"/>
            <a:pathLst>
              <a:path w="4608195">
                <a:moveTo>
                  <a:pt x="0" y="0"/>
                </a:moveTo>
                <a:lnTo>
                  <a:pt x="4608060" y="0"/>
                </a:lnTo>
              </a:path>
            </a:pathLst>
          </a:custGeom>
          <a:ln w="15183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14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31304" y="88524"/>
            <a:ext cx="152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070707"/>
                </a:solidFill>
                <a:latin typeface="Calibri"/>
                <a:cs typeface="Calibri"/>
              </a:rPr>
              <a:t>12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5071" y="324420"/>
            <a:ext cx="2890520" cy="46355"/>
            <a:chOff x="-5071" y="324420"/>
            <a:chExt cx="2890520" cy="46355"/>
          </a:xfrm>
        </p:grpSpPr>
        <p:sp>
          <p:nvSpPr>
            <p:cNvPr id="5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0268" y="1122526"/>
            <a:ext cx="3953510" cy="133658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9230" marR="5080" indent="-177165" algn="just">
              <a:lnSpc>
                <a:spcPct val="102600"/>
              </a:lnSpc>
              <a:spcBef>
                <a:spcPts val="55"/>
              </a:spcBef>
              <a:buClr>
                <a:srgbClr val="001F44"/>
              </a:buClr>
              <a:buFont typeface="Calibri"/>
              <a:buAutoNum type="arabicPeriod" startAt="4"/>
              <a:tabLst>
                <a:tab pos="189230" algn="l"/>
              </a:tabLst>
            </a:pPr>
            <a:r>
              <a:rPr sz="1100" b="1" spc="105" dirty="0">
                <a:solidFill>
                  <a:srgbClr val="070707"/>
                </a:solidFill>
                <a:latin typeface="Calibri"/>
                <a:cs typeface="Calibri"/>
              </a:rPr>
              <a:t>Training</a:t>
            </a:r>
            <a:r>
              <a:rPr sz="1100" b="1" spc="254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1100" b="1" spc="90" dirty="0" err="1">
                <a:solidFill>
                  <a:srgbClr val="070707"/>
                </a:solidFill>
                <a:latin typeface="Calibri"/>
                <a:cs typeface="Calibri"/>
              </a:rPr>
              <a:t>Framework:</a:t>
            </a:r>
            <a:r>
              <a:rPr lang="en-US" sz="1100" spc="-10" dirty="0" err="1">
                <a:solidFill>
                  <a:srgbClr val="070707"/>
                </a:solidFill>
                <a:latin typeface="Calibri"/>
                <a:cs typeface="Calibri"/>
              </a:rPr>
              <a:t>TensorFlow</a:t>
            </a:r>
            <a:r>
              <a:rPr lang="en-US" sz="1100" spc="-10" dirty="0">
                <a:solidFill>
                  <a:srgbClr val="070707"/>
                </a:solidFill>
                <a:latin typeface="Calibri"/>
                <a:cs typeface="Calibri"/>
              </a:rPr>
              <a:t>/</a:t>
            </a:r>
            <a:r>
              <a:rPr lang="en-US" sz="1100" spc="-10" dirty="0" err="1">
                <a:solidFill>
                  <a:srgbClr val="070707"/>
                </a:solidFill>
                <a:latin typeface="Calibri"/>
                <a:cs typeface="Calibri"/>
              </a:rPr>
              <a:t>Keras</a:t>
            </a:r>
            <a:r>
              <a:rPr lang="en-US" sz="1100" spc="-10" dirty="0">
                <a:solidFill>
                  <a:srgbClr val="070707"/>
                </a:solidFill>
                <a:latin typeface="Calibri"/>
                <a:cs typeface="Calibri"/>
              </a:rPr>
              <a:t> implementation with Adam optimizer, binary cross-entropy and Dice coefficient losses, optional learning rate scheduling, and GPU acceleration for efficient processing.</a:t>
            </a:r>
            <a:endParaRPr sz="1100" spc="-10" dirty="0">
              <a:solidFill>
                <a:srgbClr val="070707"/>
              </a:solidFill>
              <a:latin typeface="Calibri"/>
              <a:cs typeface="Calibri"/>
            </a:endParaRPr>
          </a:p>
          <a:p>
            <a:pPr marL="189230" marR="283210" indent="-177165">
              <a:lnSpc>
                <a:spcPct val="102600"/>
              </a:lnSpc>
              <a:spcBef>
                <a:spcPts val="894"/>
              </a:spcBef>
              <a:buClr>
                <a:srgbClr val="001F44"/>
              </a:buClr>
              <a:buFont typeface="Calibri"/>
              <a:buAutoNum type="arabicPeriod" startAt="4"/>
              <a:tabLst>
                <a:tab pos="189230" algn="l"/>
                <a:tab pos="1691639" algn="l"/>
              </a:tabLst>
            </a:pPr>
            <a:r>
              <a:rPr sz="1100" b="1" spc="95" dirty="0">
                <a:solidFill>
                  <a:srgbClr val="070707"/>
                </a:solidFill>
                <a:latin typeface="Calibri"/>
                <a:cs typeface="Calibri"/>
              </a:rPr>
              <a:t>Evaluation</a:t>
            </a:r>
            <a:r>
              <a:rPr sz="1100" b="1" spc="204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1100" b="1" spc="80" dirty="0">
                <a:solidFill>
                  <a:srgbClr val="070707"/>
                </a:solidFill>
                <a:latin typeface="Calibri"/>
                <a:cs typeface="Calibri"/>
              </a:rPr>
              <a:t>Metrics:</a:t>
            </a:r>
            <a:r>
              <a:rPr sz="1100" b="1" dirty="0">
                <a:solidFill>
                  <a:srgbClr val="070707"/>
                </a:solidFill>
                <a:latin typeface="Calibri"/>
                <a:cs typeface="Calibri"/>
              </a:rPr>
              <a:t>	</a:t>
            </a:r>
            <a:r>
              <a:rPr sz="1100" spc="-10" dirty="0">
                <a:solidFill>
                  <a:srgbClr val="070707"/>
                </a:solidFill>
                <a:latin typeface="Calibri"/>
                <a:cs typeface="Calibri"/>
              </a:rPr>
              <a:t>Dice</a:t>
            </a:r>
            <a:r>
              <a:rPr sz="1100" spc="155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70707"/>
                </a:solidFill>
                <a:latin typeface="Calibri"/>
                <a:cs typeface="Calibri"/>
              </a:rPr>
              <a:t>coefficient</a:t>
            </a:r>
            <a:r>
              <a:rPr sz="1100" spc="160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70707"/>
                </a:solidFill>
                <a:latin typeface="Calibri"/>
                <a:cs typeface="Calibri"/>
              </a:rPr>
              <a:t>for</a:t>
            </a:r>
            <a:r>
              <a:rPr sz="1100" spc="160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70707"/>
                </a:solidFill>
                <a:latin typeface="Calibri"/>
                <a:cs typeface="Calibri"/>
              </a:rPr>
              <a:t>segmentation </a:t>
            </a:r>
            <a:r>
              <a:rPr sz="1100" dirty="0">
                <a:solidFill>
                  <a:srgbClr val="070707"/>
                </a:solidFill>
                <a:latin typeface="Calibri"/>
                <a:cs typeface="Calibri"/>
              </a:rPr>
              <a:t>accuracy,</a:t>
            </a:r>
            <a:r>
              <a:rPr sz="1100" spc="340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70707"/>
                </a:solidFill>
                <a:latin typeface="Calibri"/>
                <a:cs typeface="Calibri"/>
              </a:rPr>
              <a:t>and</a:t>
            </a:r>
            <a:r>
              <a:rPr sz="1100" spc="340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70707"/>
                </a:solidFill>
                <a:latin typeface="Calibri"/>
                <a:cs typeface="Calibri"/>
              </a:rPr>
              <a:t>precision/recall/F1-score</a:t>
            </a:r>
            <a:r>
              <a:rPr sz="1100" spc="340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70707"/>
                </a:solidFill>
                <a:latin typeface="Calibri"/>
                <a:cs typeface="Calibri"/>
              </a:rPr>
              <a:t>for</a:t>
            </a:r>
            <a:r>
              <a:rPr sz="1100" spc="340" dirty="0">
                <a:solidFill>
                  <a:srgbClr val="070707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70707"/>
                </a:solidFill>
                <a:latin typeface="Calibri"/>
                <a:cs typeface="Calibri"/>
              </a:rPr>
              <a:t>classification performance.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275998"/>
            <a:ext cx="4608195" cy="0"/>
          </a:xfrm>
          <a:custGeom>
            <a:avLst/>
            <a:gdLst/>
            <a:ahLst/>
            <a:cxnLst/>
            <a:rect l="l" t="t" r="r" b="b"/>
            <a:pathLst>
              <a:path w="4608195">
                <a:moveTo>
                  <a:pt x="0" y="0"/>
                </a:moveTo>
                <a:lnTo>
                  <a:pt x="4608060" y="0"/>
                </a:lnTo>
              </a:path>
            </a:pathLst>
          </a:custGeom>
          <a:ln w="15183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4961" y="3533480"/>
            <a:ext cx="4608195" cy="0"/>
          </a:xfrm>
          <a:custGeom>
            <a:avLst/>
            <a:gdLst/>
            <a:ahLst/>
            <a:cxnLst/>
            <a:rect l="l" t="t" r="r" b="b"/>
            <a:pathLst>
              <a:path w="4608195">
                <a:moveTo>
                  <a:pt x="0" y="0"/>
                </a:moveTo>
                <a:lnTo>
                  <a:pt x="4608060" y="0"/>
                </a:lnTo>
              </a:path>
            </a:pathLst>
          </a:custGeom>
          <a:ln w="15183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Flowchart: Alternate Process 1"/>
          <p:cNvSpPr/>
          <p:nvPr/>
        </p:nvSpPr>
        <p:spPr>
          <a:xfrm>
            <a:off x="93155" y="857190"/>
            <a:ext cx="633237" cy="265590"/>
          </a:xfrm>
          <a:prstGeom prst="flowChartAlternateProcess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lowchart: Process 4"/>
          <p:cNvSpPr/>
          <p:nvPr/>
        </p:nvSpPr>
        <p:spPr>
          <a:xfrm>
            <a:off x="863295" y="654074"/>
            <a:ext cx="838200" cy="1400481"/>
          </a:xfrm>
          <a:prstGeom prst="flowChartProcess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lowchart: Process 5"/>
          <p:cNvSpPr/>
          <p:nvPr/>
        </p:nvSpPr>
        <p:spPr>
          <a:xfrm>
            <a:off x="1973424" y="652076"/>
            <a:ext cx="838200" cy="762000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lowchart: Process 6"/>
          <p:cNvSpPr/>
          <p:nvPr/>
        </p:nvSpPr>
        <p:spPr>
          <a:xfrm>
            <a:off x="1973424" y="1730489"/>
            <a:ext cx="838200" cy="762000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-4656" y="891948"/>
            <a:ext cx="838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Input Scan</a:t>
            </a:r>
            <a:endParaRPr lang="en-IN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812385" y="682956"/>
            <a:ext cx="95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Preprocessing</a:t>
            </a:r>
            <a:endParaRPr lang="en-IN" sz="900" dirty="0"/>
          </a:p>
        </p:txBody>
      </p:sp>
      <p:sp>
        <p:nvSpPr>
          <p:cNvPr id="13" name="Rectangle 12"/>
          <p:cNvSpPr/>
          <p:nvPr/>
        </p:nvSpPr>
        <p:spPr>
          <a:xfrm>
            <a:off x="961820" y="1216460"/>
            <a:ext cx="685800" cy="15240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957631" y="1450196"/>
            <a:ext cx="685800" cy="15240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949342" y="1694483"/>
            <a:ext cx="685800" cy="27702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960625" y="986884"/>
            <a:ext cx="685800" cy="15240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976681" y="957935"/>
            <a:ext cx="6667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/>
              <a:t>Resizing</a:t>
            </a:r>
            <a:endParaRPr lang="en-IN" sz="700" dirty="0"/>
          </a:p>
        </p:txBody>
      </p:sp>
      <p:sp>
        <p:nvSpPr>
          <p:cNvPr id="19" name="TextBox 18"/>
          <p:cNvSpPr txBox="1"/>
          <p:nvPr/>
        </p:nvSpPr>
        <p:spPr>
          <a:xfrm>
            <a:off x="927855" y="1183514"/>
            <a:ext cx="83046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Augmentation</a:t>
            </a:r>
            <a:endParaRPr lang="en-IN" sz="700" dirty="0"/>
          </a:p>
        </p:txBody>
      </p:sp>
      <p:sp>
        <p:nvSpPr>
          <p:cNvPr id="20" name="TextBox 19"/>
          <p:cNvSpPr txBox="1"/>
          <p:nvPr/>
        </p:nvSpPr>
        <p:spPr>
          <a:xfrm>
            <a:off x="903475" y="1416445"/>
            <a:ext cx="8251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Normalization</a:t>
            </a:r>
            <a:endParaRPr lang="en-IN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966531" y="1660730"/>
            <a:ext cx="7983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/>
              <a:t>  </a:t>
            </a:r>
            <a:r>
              <a:rPr lang="en-US" sz="700" dirty="0"/>
              <a:t>Tensor Conversion</a:t>
            </a:r>
            <a:endParaRPr lang="en-IN" sz="700" dirty="0"/>
          </a:p>
        </p:txBody>
      </p:sp>
      <p:sp>
        <p:nvSpPr>
          <p:cNvPr id="22" name="TextBox 21"/>
          <p:cNvSpPr txBox="1"/>
          <p:nvPr/>
        </p:nvSpPr>
        <p:spPr>
          <a:xfrm>
            <a:off x="2077356" y="667567"/>
            <a:ext cx="685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CNN</a:t>
            </a:r>
            <a:endParaRPr lang="en-IN" sz="1000" dirty="0"/>
          </a:p>
        </p:txBody>
      </p:sp>
      <p:sp>
        <p:nvSpPr>
          <p:cNvPr id="23" name="Flowchart: Process 22"/>
          <p:cNvSpPr/>
          <p:nvPr/>
        </p:nvSpPr>
        <p:spPr>
          <a:xfrm>
            <a:off x="2000543" y="940842"/>
            <a:ext cx="771983" cy="366294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1985966" y="953503"/>
            <a:ext cx="816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Image Classification</a:t>
            </a:r>
            <a:endParaRPr lang="en-IN" sz="800" dirty="0"/>
          </a:p>
        </p:txBody>
      </p:sp>
      <p:sp>
        <p:nvSpPr>
          <p:cNvPr id="25" name="TextBox 24"/>
          <p:cNvSpPr txBox="1"/>
          <p:nvPr/>
        </p:nvSpPr>
        <p:spPr>
          <a:xfrm>
            <a:off x="2049624" y="1782170"/>
            <a:ext cx="685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U-Net</a:t>
            </a:r>
            <a:endParaRPr lang="en-IN" sz="900" dirty="0"/>
          </a:p>
        </p:txBody>
      </p:sp>
      <p:sp>
        <p:nvSpPr>
          <p:cNvPr id="26" name="Flowchart: Process 25"/>
          <p:cNvSpPr/>
          <p:nvPr/>
        </p:nvSpPr>
        <p:spPr>
          <a:xfrm>
            <a:off x="2000543" y="2054554"/>
            <a:ext cx="771983" cy="398183"/>
          </a:xfrm>
          <a:prstGeom prst="flowChartProcess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/>
          <p:cNvSpPr txBox="1"/>
          <p:nvPr/>
        </p:nvSpPr>
        <p:spPr>
          <a:xfrm>
            <a:off x="1974985" y="2099106"/>
            <a:ext cx="83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NT Segmentation</a:t>
            </a:r>
            <a:endParaRPr lang="en-IN" sz="800" dirty="0"/>
          </a:p>
        </p:txBody>
      </p:sp>
      <p:sp>
        <p:nvSpPr>
          <p:cNvPr id="28" name="Rectangle 27"/>
          <p:cNvSpPr/>
          <p:nvPr/>
        </p:nvSpPr>
        <p:spPr>
          <a:xfrm>
            <a:off x="3209565" y="1314903"/>
            <a:ext cx="830544" cy="31641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ounded Rectangle 28"/>
          <p:cNvSpPr/>
          <p:nvPr/>
        </p:nvSpPr>
        <p:spPr>
          <a:xfrm>
            <a:off x="3226896" y="2819380"/>
            <a:ext cx="838200" cy="45614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/>
          <p:cNvSpPr txBox="1"/>
          <p:nvPr/>
        </p:nvSpPr>
        <p:spPr>
          <a:xfrm>
            <a:off x="3239565" y="1314247"/>
            <a:ext cx="1049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+mn-lt"/>
              </a:rPr>
              <a:t>NT Thickness Measurement</a:t>
            </a:r>
            <a:endParaRPr lang="en-IN" sz="900" dirty="0">
              <a:latin typeface="+mn-lt"/>
            </a:endParaRPr>
          </a:p>
        </p:txBody>
      </p:sp>
      <p:cxnSp>
        <p:nvCxnSpPr>
          <p:cNvPr id="33" name="Straight Arrow Connector 32"/>
          <p:cNvCxnSpPr>
            <a:cxnSpLocks/>
          </p:cNvCxnSpPr>
          <p:nvPr/>
        </p:nvCxnSpPr>
        <p:spPr>
          <a:xfrm>
            <a:off x="729386" y="986884"/>
            <a:ext cx="14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cxnSpLocks/>
          </p:cNvCxnSpPr>
          <p:nvPr/>
        </p:nvCxnSpPr>
        <p:spPr>
          <a:xfrm>
            <a:off x="1701495" y="1018284"/>
            <a:ext cx="2709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cxnSpLocks/>
            <a:stCxn id="6" idx="2"/>
            <a:endCxn id="7" idx="0"/>
          </p:cNvCxnSpPr>
          <p:nvPr/>
        </p:nvCxnSpPr>
        <p:spPr>
          <a:xfrm>
            <a:off x="2392524" y="1414076"/>
            <a:ext cx="0" cy="31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cxnSpLocks/>
          </p:cNvCxnSpPr>
          <p:nvPr/>
        </p:nvCxnSpPr>
        <p:spPr>
          <a:xfrm flipV="1">
            <a:off x="2810512" y="1416445"/>
            <a:ext cx="416384" cy="4154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274231" y="2890255"/>
            <a:ext cx="83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+mj-lt"/>
              </a:rPr>
              <a:t>Result with Visualization</a:t>
            </a:r>
            <a:endParaRPr lang="en-IN" sz="900" dirty="0">
              <a:latin typeface="+mj-lt"/>
            </a:endParaRPr>
          </a:p>
        </p:txBody>
      </p:sp>
      <p:sp>
        <p:nvSpPr>
          <p:cNvPr id="36" name="Flowchart: Process 35">
            <a:extLst>
              <a:ext uri="{FF2B5EF4-FFF2-40B4-BE49-F238E27FC236}">
                <a16:creationId xmlns:a16="http://schemas.microsoft.com/office/drawing/2014/main" id="{57AEFD8A-FDAE-5A43-78B9-9420A86977B6}"/>
              </a:ext>
            </a:extLst>
          </p:cNvPr>
          <p:cNvSpPr/>
          <p:nvPr/>
        </p:nvSpPr>
        <p:spPr>
          <a:xfrm>
            <a:off x="3226896" y="1938557"/>
            <a:ext cx="838200" cy="386619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2CFAA3-153A-32A5-F7DA-DBB828C798D6}"/>
              </a:ext>
            </a:extLst>
          </p:cNvPr>
          <p:cNvSpPr txBox="1"/>
          <p:nvPr/>
        </p:nvSpPr>
        <p:spPr>
          <a:xfrm>
            <a:off x="3165219" y="1963663"/>
            <a:ext cx="1049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+mn-lt"/>
              </a:rPr>
              <a:t>Rule based Classification</a:t>
            </a:r>
            <a:endParaRPr lang="en-IN" sz="900" dirty="0">
              <a:latin typeface="+mn-lt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AA01347-2E1D-30BF-11AF-F16FF4FB6903}"/>
              </a:ext>
            </a:extLst>
          </p:cNvPr>
          <p:cNvCxnSpPr/>
          <p:nvPr/>
        </p:nvCxnSpPr>
        <p:spPr>
          <a:xfrm>
            <a:off x="3624837" y="1631316"/>
            <a:ext cx="0" cy="307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349BF08-F93C-501F-1BC5-2ACCE8CD2057}"/>
              </a:ext>
            </a:extLst>
          </p:cNvPr>
          <p:cNvCxnSpPr>
            <a:cxnSpLocks/>
            <a:stCxn id="36" idx="2"/>
            <a:endCxn id="29" idx="0"/>
          </p:cNvCxnSpPr>
          <p:nvPr/>
        </p:nvCxnSpPr>
        <p:spPr>
          <a:xfrm>
            <a:off x="3645996" y="2325176"/>
            <a:ext cx="0" cy="494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bject 2">
            <a:extLst>
              <a:ext uri="{FF2B5EF4-FFF2-40B4-BE49-F238E27FC236}">
                <a16:creationId xmlns:a16="http://schemas.microsoft.com/office/drawing/2014/main" id="{21F6E8AF-3EA1-3DEA-0FC3-568B20B4FE68}"/>
              </a:ext>
            </a:extLst>
          </p:cNvPr>
          <p:cNvSpPr txBox="1">
            <a:spLocks/>
          </p:cNvSpPr>
          <p:nvPr/>
        </p:nvSpPr>
        <p:spPr>
          <a:xfrm>
            <a:off x="199794" y="111145"/>
            <a:ext cx="2791056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en-IN" sz="1600" b="1" u="sng" spc="114" dirty="0">
                <a:solidFill>
                  <a:srgbClr val="FF0000"/>
                </a:solidFill>
              </a:rPr>
              <a:t>Architectural Diagram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450" y="1425575"/>
            <a:ext cx="2137639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b="1" spc="95" dirty="0">
                <a:solidFill>
                  <a:srgbClr val="BF003F"/>
                </a:solidFill>
                <a:latin typeface="Calibri"/>
                <a:cs typeface="Calibri"/>
                <a:hlinkClick r:id="rId2" action="ppaction://hlinksldjump"/>
              </a:rPr>
              <a:t>Results and </a:t>
            </a:r>
            <a:r>
              <a:rPr sz="1400" b="1" spc="95" dirty="0">
                <a:solidFill>
                  <a:srgbClr val="BF003F"/>
                </a:solidFill>
                <a:latin typeface="Calibri"/>
                <a:cs typeface="Calibri"/>
                <a:hlinkClick r:id="rId2" action="ppaction://hlinksldjump"/>
              </a:rPr>
              <a:t>Screenshots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03999" y="1737741"/>
            <a:ext cx="3600450" cy="0"/>
          </a:xfrm>
          <a:custGeom>
            <a:avLst/>
            <a:gdLst/>
            <a:ahLst/>
            <a:cxnLst/>
            <a:rect l="l" t="t" r="r" b="b"/>
            <a:pathLst>
              <a:path w="3600450">
                <a:moveTo>
                  <a:pt x="0" y="0"/>
                </a:moveTo>
                <a:lnTo>
                  <a:pt x="3600005" y="0"/>
                </a:lnTo>
              </a:path>
            </a:pathLst>
          </a:custGeom>
          <a:ln w="12649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C48BAA6-808D-2701-8575-43C8DBE80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09" y="511175"/>
            <a:ext cx="4178682" cy="220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034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6479" y="53975"/>
            <a:ext cx="3048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2"/>
                </a:solidFill>
              </a:rPr>
              <a:t>Classification Metrics:</a:t>
            </a:r>
            <a:endParaRPr lang="en-IN" sz="1100" b="1" dirty="0">
              <a:solidFill>
                <a:schemeClr val="accent2"/>
              </a:solidFill>
            </a:endParaRPr>
          </a:p>
        </p:txBody>
      </p:sp>
      <p:grpSp>
        <p:nvGrpSpPr>
          <p:cNvPr id="3" name="object 4"/>
          <p:cNvGrpSpPr/>
          <p:nvPr/>
        </p:nvGrpSpPr>
        <p:grpSpPr>
          <a:xfrm>
            <a:off x="-5071" y="324420"/>
            <a:ext cx="2890520" cy="46355"/>
            <a:chOff x="-5071" y="324420"/>
            <a:chExt cx="2890520" cy="46355"/>
          </a:xfrm>
        </p:grpSpPr>
        <p:sp>
          <p:nvSpPr>
            <p:cNvPr id="4" name="object 5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2880035" y="0"/>
                  </a:moveTo>
                  <a:lnTo>
                    <a:pt x="0" y="0"/>
                  </a:lnTo>
                  <a:lnTo>
                    <a:pt x="0" y="36002"/>
                  </a:lnTo>
                  <a:lnTo>
                    <a:pt x="288003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6"/>
            <p:cNvSpPr/>
            <p:nvPr/>
          </p:nvSpPr>
          <p:spPr>
            <a:xfrm>
              <a:off x="-10" y="329481"/>
              <a:ext cx="2880360" cy="36195"/>
            </a:xfrm>
            <a:custGeom>
              <a:avLst/>
              <a:gdLst/>
              <a:ahLst/>
              <a:cxnLst/>
              <a:rect l="l" t="t" r="r" b="b"/>
              <a:pathLst>
                <a:path w="2880360" h="36195">
                  <a:moveTo>
                    <a:pt x="0" y="0"/>
                  </a:moveTo>
                  <a:lnTo>
                    <a:pt x="2880035" y="0"/>
                  </a:lnTo>
                  <a:lnTo>
                    <a:pt x="0" y="36002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FF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0" y="434975"/>
            <a:ext cx="3031521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000" b="1" dirty="0">
                <a:latin typeface="+mn-lt"/>
              </a:rPr>
              <a:t>Accuracy:</a:t>
            </a:r>
            <a:r>
              <a:rPr lang="en-US" sz="1000" dirty="0">
                <a:latin typeface="+mn-lt"/>
              </a:rPr>
              <a:t> 97%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000" b="1" dirty="0">
                <a:latin typeface="+mn-lt"/>
              </a:rPr>
              <a:t>Low Risk: </a:t>
            </a:r>
            <a:r>
              <a:rPr lang="en-US" sz="1000" dirty="0">
                <a:latin typeface="+mn-lt"/>
              </a:rPr>
              <a:t>Precision = 0.92, Recall = 1.00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000" b="1" dirty="0">
                <a:latin typeface="+mn-lt"/>
              </a:rPr>
              <a:t>High Risk: </a:t>
            </a:r>
            <a:r>
              <a:rPr lang="en-US" sz="1000" dirty="0">
                <a:latin typeface="+mn-lt"/>
              </a:rPr>
              <a:t>Precision = 1.00, Recall = 0.95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000" b="1" dirty="0">
                <a:latin typeface="+mn-lt"/>
              </a:rPr>
              <a:t>F1-Score:</a:t>
            </a:r>
            <a:r>
              <a:rPr lang="en-US" sz="1000" dirty="0">
                <a:latin typeface="+mn-lt"/>
              </a:rPr>
              <a:t> 0.97 (97%)</a:t>
            </a:r>
          </a:p>
          <a:p>
            <a:endParaRPr lang="en-IN" sz="11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FC60E24-6A07-9F6A-A9DD-1418B8508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655" y="1196974"/>
            <a:ext cx="2565958" cy="226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4493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6892" y="1321419"/>
            <a:ext cx="10261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195" dirty="0">
                <a:solidFill>
                  <a:srgbClr val="BF003F"/>
                </a:solidFill>
                <a:latin typeface="Calibri"/>
                <a:cs typeface="Calibri"/>
                <a:hlinkClick r:id="rId2" action="ppaction://hlinksldjump"/>
              </a:rPr>
              <a:t>Thank</a:t>
            </a:r>
            <a:r>
              <a:rPr sz="1400" b="1" spc="229" dirty="0">
                <a:solidFill>
                  <a:srgbClr val="BF003F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sz="1400" b="1" spc="155" dirty="0">
                <a:solidFill>
                  <a:srgbClr val="BF003F"/>
                </a:solidFill>
                <a:latin typeface="Calibri"/>
                <a:cs typeface="Calibri"/>
                <a:hlinkClick r:id="rId2" action="ppaction://hlinksldjump"/>
              </a:rPr>
              <a:t>You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03999" y="1737741"/>
            <a:ext cx="3600450" cy="0"/>
          </a:xfrm>
          <a:custGeom>
            <a:avLst/>
            <a:gdLst/>
            <a:ahLst/>
            <a:cxnLst/>
            <a:rect l="l" t="t" r="r" b="b"/>
            <a:pathLst>
              <a:path w="3600450">
                <a:moveTo>
                  <a:pt x="0" y="0"/>
                </a:moveTo>
                <a:lnTo>
                  <a:pt x="3600005" y="0"/>
                </a:lnTo>
              </a:path>
            </a:pathLst>
          </a:custGeom>
          <a:ln w="12649">
            <a:solidFill>
              <a:srgbClr val="001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F003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929</TotalTime>
  <Words>567</Words>
  <Application>Microsoft Office PowerPoint</Application>
  <PresentationFormat>Custom</PresentationFormat>
  <Paragraphs>99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Lucida Sans Unicode</vt:lpstr>
      <vt:lpstr>Wingdings</vt:lpstr>
      <vt:lpstr>Office Theme</vt:lpstr>
      <vt:lpstr>Prenatal Down Syndrome  Risk Detection</vt:lpstr>
      <vt:lpstr>Presentation Outline</vt:lpstr>
      <vt:lpstr>PowerPoint Presentation</vt:lpstr>
      <vt:lpstr>Problem Description</vt:lpstr>
      <vt:lpstr>Existing System</vt:lpstr>
      <vt:lpstr>Problem Statement and Objectives</vt:lpstr>
      <vt:lpstr>Sample NT Scan</vt:lpstr>
      <vt:lpstr>PowerPoint Presentation</vt:lpstr>
      <vt:lpstr>Literature Review</vt:lpstr>
      <vt:lpstr>PowerPoint Presentation</vt:lpstr>
      <vt:lpstr>Methodology</vt:lpstr>
      <vt:lpstr>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 Detection of Pancreatic Cancer through CT Segmentation</dc:title>
  <dc:creator>Devananda Rajan  Under the Supervision of  Prof. Dr. Fousia M Shamsudeen</dc:creator>
  <cp:lastModifiedBy>aasiya shafeek</cp:lastModifiedBy>
  <cp:revision>31</cp:revision>
  <dcterms:created xsi:type="dcterms:W3CDTF">2025-09-22T09:51:22Z</dcterms:created>
  <dcterms:modified xsi:type="dcterms:W3CDTF">2026-05-30T06:09:44Z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2025-09-22T00:00:00Z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